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816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821" y="61722"/>
            <a:ext cx="3677056" cy="5006389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365760"/>
            <a:ext cx="0" cy="4389120"/>
          </a:xfrm>
          <a:prstGeom prst="line">
            <a:avLst/>
          </a:prstGeom>
          <a:noFill/>
          <a:ln w="12700">
            <a:solidFill>
              <a:srgbClr val="FFB9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502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FC000"/>
                </a:solidFill>
              </a:rPr>
              <a:t>MAKERERE UNIVERSITY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0" y="841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BSc Software Engineering  ·  Final Year Project</a:t>
            </a:r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45720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80161"/>
            <a:ext cx="4663440" cy="86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MOTOFIX: A Smart Vehicle Breakdown Response System (On-demand </a:t>
            </a:r>
            <a:r>
              <a:rPr lang="en-US" sz="1600" b="1" dirty="0">
                <a:solidFill>
                  <a:srgbClr val="FFFFFF"/>
                </a:solidFill>
              </a:rPr>
              <a:t>roadside assistance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&amp; mechanic dispatch for </a:t>
            </a:r>
            <a:r>
              <a:rPr lang="en-US" sz="1600" b="1" dirty="0" smtClean="0">
                <a:solidFill>
                  <a:srgbClr val="FFFFFF"/>
                </a:solidFill>
              </a:rPr>
              <a:t>Uganda)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270535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Asiimire </a:t>
            </a:r>
            <a:r>
              <a:rPr lang="en-US" sz="1400" dirty="0" smtClean="0">
                <a:solidFill>
                  <a:srgbClr val="FFFFFF"/>
                </a:solidFill>
              </a:rPr>
              <a:t>Patricia – 21/U/19271/PS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305282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Kitonsa </a:t>
            </a:r>
            <a:r>
              <a:rPr lang="en-US" sz="1400" dirty="0" smtClean="0">
                <a:solidFill>
                  <a:srgbClr val="FFFFFF"/>
                </a:solidFill>
              </a:rPr>
              <a:t>Elvis – 20/U/7785/PS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36995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Katuramu </a:t>
            </a:r>
            <a:r>
              <a:rPr lang="en-US" sz="1400" dirty="0" smtClean="0">
                <a:solidFill>
                  <a:srgbClr val="FFFFFF"/>
                </a:solidFill>
              </a:rPr>
              <a:t>Edgar – 22/U/21756/PS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68707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Kizito Daniel Jr</a:t>
            </a:r>
            <a:r>
              <a:rPr lang="en-US" sz="1400" dirty="0" smtClean="0">
                <a:solidFill>
                  <a:srgbClr val="FFFFFF"/>
                </a:solidFill>
              </a:rPr>
              <a:t>. – 19/U/8282/EVE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2426464"/>
            <a:ext cx="39941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FFC000"/>
                </a:solidFill>
              </a:rPr>
              <a:t>GROUP </a:t>
            </a:r>
            <a:r>
              <a:rPr lang="en-US" sz="1400" b="1" dirty="0">
                <a:solidFill>
                  <a:srgbClr val="FFC000"/>
                </a:solidFill>
              </a:rPr>
              <a:t>BSE26-9  ·  2026</a:t>
            </a:r>
          </a:p>
        </p:txBody>
      </p:sp>
      <p:sp>
        <p:nvSpPr>
          <p:cNvPr id="17" name="Text 15"/>
          <p:cNvSpPr/>
          <p:nvPr/>
        </p:nvSpPr>
        <p:spPr>
          <a:xfrm>
            <a:off x="4067134" y="436655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3C7"/>
                </a:solidFill>
              </a:rPr>
              <a:t>Supervised by Dr. Eyobu Steven Odongo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978603" y="841248"/>
            <a:ext cx="1883275" cy="1643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0" y="1423150"/>
            <a:ext cx="1905266" cy="1905266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4206240" y="2242388"/>
            <a:ext cx="45720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Stranded — and on your own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627632"/>
            <a:ext cx="502920" cy="50292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682496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5840" y="1572768"/>
            <a:ext cx="7772400" cy="621792"/>
          </a:xfrm>
          <a:prstGeom prst="roundRect">
            <a:avLst>
              <a:gd name="adj" fmla="val 88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" name="Text 5"/>
          <p:cNvSpPr/>
          <p:nvPr/>
        </p:nvSpPr>
        <p:spPr>
          <a:xfrm>
            <a:off x="1143000" y="160934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2163D"/>
                </a:solidFill>
              </a:rPr>
              <a:t>Breakdowns are stressful and unsafe — worst of all at night or on a busy highway, with no one obvious to call.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2377440"/>
            <a:ext cx="502920" cy="50292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432304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05840" y="2322576"/>
            <a:ext cx="7772400" cy="621792"/>
          </a:xfrm>
          <a:prstGeom prst="roundRect">
            <a:avLst>
              <a:gd name="adj" fmla="val 88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2" name="Text 8"/>
          <p:cNvSpPr/>
          <p:nvPr/>
        </p:nvSpPr>
        <p:spPr>
          <a:xfrm>
            <a:off x="1143000" y="235915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2163D"/>
                </a:solidFill>
              </a:rPr>
              <a:t>You're left in the dark — you don't know what's wrong, which mechanic to trust, or what a fair price is.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7472" y="3127248"/>
            <a:ext cx="502920" cy="50292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182112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05840" y="3072384"/>
            <a:ext cx="7772400" cy="621792"/>
          </a:xfrm>
          <a:prstGeom prst="roundRect">
            <a:avLst>
              <a:gd name="adj" fmla="val 88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Text 11"/>
          <p:cNvSpPr/>
          <p:nvPr/>
        </p:nvSpPr>
        <p:spPr>
          <a:xfrm>
            <a:off x="1143000" y="310896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2163D"/>
                </a:solidFill>
              </a:rPr>
              <a:t>Getting help is a guessing game — frantic phone calls, no ETA, no transparency, and a real fear of being overcharged.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47472" y="3877056"/>
            <a:ext cx="502920" cy="50292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945636"/>
            <a:ext cx="347472" cy="34747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005840" y="3822192"/>
            <a:ext cx="7772400" cy="621792"/>
          </a:xfrm>
          <a:prstGeom prst="roundRect">
            <a:avLst>
              <a:gd name="adj" fmla="val 88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0" name="Text 14"/>
          <p:cNvSpPr/>
          <p:nvPr/>
        </p:nvSpPr>
        <p:spPr>
          <a:xfrm>
            <a:off x="1143000" y="385876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2163D"/>
                </a:solidFill>
              </a:rPr>
              <a:t>Providers lose out too — skilled mechanics and tow operators have no steady, fair stream of work.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we chose this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232875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48132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</a:rPr>
              <a:t>It affects everyone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1828800"/>
            <a:ext cx="3474720" cy="0"/>
          </a:xfrm>
          <a:prstGeom prst="line">
            <a:avLst/>
          </a:prstGeom>
          <a:noFill/>
          <a:ln w="635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01952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 smtClean="0">
                <a:solidFill>
                  <a:srgbClr val="F4F5FF"/>
                </a:solidFill>
              </a:rPr>
              <a:t>Did you know that over 155,000 used cars are added to Ugandan roads every single year (Source: RidePlug, 2026). </a:t>
            </a:r>
          </a:p>
          <a:p>
            <a:pPr marL="0" indent="0" algn="l">
              <a:buNone/>
            </a:pPr>
            <a:endParaRPr lang="en-US" sz="1150" dirty="0">
              <a:solidFill>
                <a:srgbClr val="F4F5FF"/>
              </a:solidFill>
            </a:endParaRPr>
          </a:p>
          <a:p>
            <a:pPr marL="0" indent="0" algn="l">
              <a:buNone/>
            </a:pPr>
            <a:r>
              <a:rPr lang="en-US" sz="1150" dirty="0" smtClean="0">
                <a:solidFill>
                  <a:srgbClr val="F4F5FF"/>
                </a:solidFill>
              </a:rPr>
              <a:t>As such, mechanical failures become inevitable for the daily driver. </a:t>
            </a:r>
          </a:p>
          <a:p>
            <a:pPr marL="0" indent="0" algn="l">
              <a:buNone/>
            </a:pPr>
            <a:endParaRPr lang="en-US" sz="1150" dirty="0">
              <a:solidFill>
                <a:srgbClr val="F4F5FF"/>
              </a:solidFill>
            </a:endParaRPr>
          </a:p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232875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48132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</a:rPr>
              <a:t>It's personal and </a:t>
            </a:r>
            <a:r>
              <a:rPr lang="en-US" sz="1300" b="1" dirty="0" smtClean="0">
                <a:solidFill>
                  <a:srgbClr val="F0A500"/>
                </a:solidFill>
              </a:rPr>
              <a:t>universal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19472" y="1828800"/>
            <a:ext cx="3474720" cy="0"/>
          </a:xfrm>
          <a:prstGeom prst="line">
            <a:avLst/>
          </a:prstGeom>
          <a:noFill/>
          <a:ln w="635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901952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4F5FF"/>
                </a:solidFill>
              </a:rPr>
              <a:t>Every driver we know has a breakdown horror story; </a:t>
            </a:r>
            <a:r>
              <a:rPr lang="en-US" sz="1150" dirty="0" smtClean="0">
                <a:solidFill>
                  <a:srgbClr val="F4F5FF"/>
                </a:solidFill>
              </a:rPr>
              <a:t>and for most of them, there </a:t>
            </a:r>
            <a:r>
              <a:rPr lang="en-US" sz="1150" dirty="0">
                <a:solidFill>
                  <a:srgbClr val="F4F5FF"/>
                </a:solidFill>
              </a:rPr>
              <a:t>was simply no trusted, instant way to get help.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232875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2186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</a:rPr>
              <a:t>A real, unfilled gap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3566160"/>
            <a:ext cx="3474720" cy="0"/>
          </a:xfrm>
          <a:prstGeom prst="line">
            <a:avLst/>
          </a:prstGeom>
          <a:noFill/>
          <a:ln w="635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639312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4F5FF"/>
                </a:solidFill>
              </a:rPr>
              <a:t>Ride-hailing solved 'get me a car' — nothing had properly solved 'my car has failed me.'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90672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232875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32186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</a:rPr>
              <a:t>Impact, not just an app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9472" y="3566160"/>
            <a:ext cx="3474720" cy="0"/>
          </a:xfrm>
          <a:prstGeom prst="line">
            <a:avLst/>
          </a:prstGeom>
          <a:noFill/>
          <a:ln w="635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639312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4F5FF"/>
                </a:solidFill>
              </a:rPr>
              <a:t>Safety when people are most vulnerable, fairness in pricing, and income for local providers.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0A500"/>
                </a:solidFill>
              </a:rPr>
              <a:t>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300" dirty="0">
                <a:solidFill>
                  <a:srgbClr val="F0A500"/>
                </a:solidFill>
              </a:rPr>
              <a:t>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0"/>
          </a:xfrm>
          <a:prstGeom prst="line">
            <a:avLst/>
          </a:prstGeom>
          <a:noFill/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MOTOFIX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B930"/>
                </a:solidFill>
              </a:rPr>
              <a:t>Help is one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B930"/>
                </a:solidFill>
              </a:rPr>
              <a:t>tap away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918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2560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163D"/>
                </a:solidFill>
              </a:rPr>
              <a:t>What MOTOFIX delivers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749040" y="685800"/>
            <a:ext cx="50292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822960"/>
            <a:ext cx="5120640" cy="868680"/>
          </a:xfrm>
          <a:prstGeom prst="roundRect">
            <a:avLst>
              <a:gd name="adj" fmla="val 736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1" name="Text 8"/>
          <p:cNvSpPr/>
          <p:nvPr/>
        </p:nvSpPr>
        <p:spPr>
          <a:xfrm>
            <a:off x="3913632" y="89611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Roadside help, on demand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13632" y="118872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Connect to nearby verified mechanics and tow providers — like ride-hailing, but for car trouble.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1828800"/>
            <a:ext cx="5120640" cy="868680"/>
          </a:xfrm>
          <a:prstGeom prst="roundRect">
            <a:avLst>
              <a:gd name="adj" fmla="val 736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4" name="Text 11"/>
          <p:cNvSpPr/>
          <p:nvPr/>
        </p:nvSpPr>
        <p:spPr>
          <a:xfrm>
            <a:off x="3913632" y="190195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One tap, end to end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13632" y="219456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Get matched, watch help arrive live, agree a fair price up front, pay by MoMo or cash, then rate.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2834640"/>
            <a:ext cx="5120640" cy="868680"/>
          </a:xfrm>
          <a:prstGeom prst="roundRect">
            <a:avLst>
              <a:gd name="adj" fmla="val 736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7" name="Text 14"/>
          <p:cNvSpPr/>
          <p:nvPr/>
        </p:nvSpPr>
        <p:spPr>
          <a:xfrm>
            <a:off x="3913632" y="290779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Know before they arrive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13632" y="320040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AI assistant tells you the likely fault and fair cost estimate — so you're never powerless.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3840480"/>
            <a:ext cx="5120640" cy="868680"/>
          </a:xfrm>
          <a:prstGeom prst="roundRect">
            <a:avLst>
              <a:gd name="adj" fmla="val 736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0" name="Text 17"/>
          <p:cNvSpPr/>
          <p:nvPr/>
        </p:nvSpPr>
        <p:spPr>
          <a:xfrm>
            <a:off x="3913632" y="391363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Built for Uganda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913632" y="420624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Local verified providers, our roads and maps, and the payment methods people already use.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THE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it works — 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50592"/>
            <a:ext cx="749808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914400" cy="9144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63D"/>
                </a:solidFill>
              </a:rPr>
              <a:t>1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7860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930"/>
                </a:solidFill>
              </a:rPr>
              <a:t>Describe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657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" y="387477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Tap </a:t>
            </a:r>
            <a:r>
              <a:rPr lang="en-US" sz="1000" dirty="0" smtClean="0">
                <a:solidFill>
                  <a:srgbClr val="F4F5FF"/>
                </a:solidFill>
              </a:rPr>
              <a:t>SOS </a:t>
            </a:r>
            <a:r>
              <a:rPr lang="en-US" sz="1000" dirty="0">
                <a:solidFill>
                  <a:srgbClr val="F4F5FF"/>
                </a:solidFill>
              </a:rPr>
              <a:t>or </a:t>
            </a:r>
            <a:r>
              <a:rPr lang="en-US" sz="1000" dirty="0" smtClean="0">
                <a:solidFill>
                  <a:srgbClr val="F4F5FF"/>
                </a:solidFill>
              </a:rPr>
              <a:t>describe the fault by text, photo or voice. MOTOBOT suggests the likely problem </a:t>
            </a:r>
            <a:r>
              <a:rPr lang="en-US" sz="1000" dirty="0">
                <a:solidFill>
                  <a:srgbClr val="F4F5FF"/>
                </a:solidFill>
              </a:rPr>
              <a:t>and fair cost.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71800" y="1417320"/>
            <a:ext cx="914400" cy="9144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71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63D"/>
                </a:solidFill>
              </a:rPr>
              <a:t>2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57860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930"/>
                </a:solidFill>
              </a:rPr>
              <a:t>Match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514600" y="3657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85466" y="387477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Instantly paired with the nearest verified provider who can handle that exact issue.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120640" y="1417320"/>
            <a:ext cx="914400" cy="9144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20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63D"/>
                </a:solidFill>
              </a:rPr>
              <a:t>3</a:t>
            </a:r>
            <a:endParaRPr lang="en-US" sz="2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7860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930"/>
                </a:solidFill>
              </a:rPr>
              <a:t>Track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663440" y="3657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27448" y="3835907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Watch them approach </a:t>
            </a:r>
            <a:r>
              <a:rPr lang="en-US" sz="1000" dirty="0" smtClean="0">
                <a:solidFill>
                  <a:srgbClr val="F4F5FF"/>
                </a:solidFill>
              </a:rPr>
              <a:t>you on </a:t>
            </a:r>
            <a:r>
              <a:rPr lang="en-US" sz="1000" dirty="0">
                <a:solidFill>
                  <a:srgbClr val="F4F5FF"/>
                </a:solidFill>
              </a:rPr>
              <a:t>a live map with a real countdown </a:t>
            </a:r>
            <a:r>
              <a:rPr lang="en-US" sz="1000" dirty="0" smtClean="0">
                <a:solidFill>
                  <a:srgbClr val="F4F5FF"/>
                </a:solidFill>
              </a:rPr>
              <a:t>ETA to fix your car issue.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69480" y="1417320"/>
            <a:ext cx="914400" cy="9144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694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63D"/>
                </a:solidFill>
              </a:rPr>
              <a:t>4</a:t>
            </a:r>
            <a:endParaRPr lang="en-US" sz="2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578608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930"/>
                </a:solidFill>
              </a:rPr>
              <a:t>Pay &amp; Rate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812280" y="3657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76288" y="3865529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Agree a clear price, pay by MoMo or cash, then rate the service to keep quality honest.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KEY FUNCTIONALITY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system offers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371600"/>
          </a:xfrm>
          <a:prstGeom prst="roundRect">
            <a:avLst>
              <a:gd name="adj" fmla="val 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484632" y="1764792"/>
            <a:ext cx="594360" cy="59436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3794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2704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AI Diagnosis — MOTOBOT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Describe by text, photo or voice; get the likely fault and a fair cost estimate before anyone arrives.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160520" cy="1371600"/>
          </a:xfrm>
          <a:prstGeom prst="roundRect">
            <a:avLst>
              <a:gd name="adj" fmla="val 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1" name="Shape 8"/>
          <p:cNvSpPr/>
          <p:nvPr/>
        </p:nvSpPr>
        <p:spPr>
          <a:xfrm>
            <a:off x="4919472" y="1764792"/>
            <a:ext cx="594360" cy="59436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83794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52704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Capability-aware Matching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15000" y="187452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Paired with the nearest verified provider who can actually handle it — mechanic, tow, or both.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926080"/>
            <a:ext cx="4160520" cy="1371600"/>
          </a:xfrm>
          <a:prstGeom prst="roundRect">
            <a:avLst>
              <a:gd name="adj" fmla="val 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Shape 12"/>
          <p:cNvSpPr/>
          <p:nvPr/>
        </p:nvSpPr>
        <p:spPr>
          <a:xfrm>
            <a:off x="484632" y="3273552"/>
            <a:ext cx="594360" cy="59436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4670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0358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Live Real-time Tracking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3832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A shared map and ETA that the driver and provider both see, kept perfectly in sync.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160520" cy="1371600"/>
          </a:xfrm>
          <a:prstGeom prst="roundRect">
            <a:avLst>
              <a:gd name="adj" fmla="val 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Shape 16"/>
          <p:cNvSpPr/>
          <p:nvPr/>
        </p:nvSpPr>
        <p:spPr>
          <a:xfrm>
            <a:off x="4919472" y="3273552"/>
            <a:ext cx="594360" cy="59436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4670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0358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5E"/>
                </a:solidFill>
              </a:rPr>
              <a:t>Transparent Pricing &amp; Payments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15000" y="33832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63D"/>
                </a:solidFill>
              </a:rPr>
              <a:t>Clear quote before any work; pay by MTN/Airtel MoMo or cash; ratings keep providers accountable.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BEYOND BREAKDOWNS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 whole vehicle-care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60809" y="1741932"/>
            <a:ext cx="2377440" cy="2377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1645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D"/>
                </a:solidFill>
              </a:rPr>
              <a:t>MOTOFIX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163D"/>
                </a:solidFill>
              </a:rPr>
              <a:t>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5819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</a:rPr>
              <a:t>Spare Parts &amp; Dealers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84832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F5FF"/>
                </a:solidFill>
              </a:rPr>
              <a:t>AI-assisted catalog keyed to fault, nearby dealers, order by WhatsApp.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146304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16504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63690" y="16730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</a:rPr>
              <a:t>Insurance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67628" y="2053655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F5FF"/>
                </a:solidFill>
              </a:rPr>
              <a:t>Browse multiple insurers, apply for cover, file claims.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82880" y="324612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3832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336499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</a:rPr>
              <a:t>Fuel Finder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7472" y="3867912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F5FF"/>
                </a:solidFill>
              </a:rPr>
              <a:t>Real fuel-station data, branded cards, turn-by-turn directions.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43600" y="324612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628" y="340156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61404" y="342306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</a:rPr>
              <a:t>Reminders &amp; SOS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36208" y="3806482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4F5FF"/>
                </a:solidFill>
              </a:rPr>
              <a:t>Due-aware maintenance reminders and one-tap emergency flow.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OUR EDGE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makes MOTOFIX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743200" cy="1691640"/>
          </a:xfrm>
          <a:prstGeom prst="roundRect">
            <a:avLst>
              <a:gd name="adj" fmla="val 540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502920" y="1490472"/>
            <a:ext cx="548640" cy="54864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544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5E"/>
                </a:solidFill>
              </a:rPr>
              <a:t>Diagnoses, not just dispatches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63D"/>
                </a:solidFill>
              </a:rPr>
              <a:t>Other apps only send someone. MOTOFIX tells you what's wrong and </a:t>
            </a:r>
            <a:r>
              <a:rPr lang="en-US" sz="1000" dirty="0" smtClean="0">
                <a:solidFill>
                  <a:srgbClr val="12163D"/>
                </a:solidFill>
              </a:rPr>
              <a:t>also determines a </a:t>
            </a:r>
            <a:r>
              <a:rPr lang="en-US" sz="1000" dirty="0" smtClean="0">
                <a:solidFill>
                  <a:srgbClr val="12163D"/>
                </a:solidFill>
              </a:rPr>
              <a:t>fair </a:t>
            </a:r>
            <a:r>
              <a:rPr lang="en-US" sz="1000" dirty="0">
                <a:solidFill>
                  <a:srgbClr val="12163D"/>
                </a:solidFill>
              </a:rPr>
              <a:t>price first — so you can't be taken advantage of.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353312"/>
            <a:ext cx="2697480" cy="1691640"/>
          </a:xfrm>
          <a:prstGeom prst="roundRect">
            <a:avLst>
              <a:gd name="adj" fmla="val 540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1" name="Shape 8"/>
          <p:cNvSpPr/>
          <p:nvPr/>
        </p:nvSpPr>
        <p:spPr>
          <a:xfrm>
            <a:off x="3383280" y="1490472"/>
            <a:ext cx="548640" cy="54864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544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5E"/>
                </a:solidFill>
              </a:rPr>
              <a:t>Matched by capability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63D"/>
                </a:solidFill>
              </a:rPr>
              <a:t>A tow job only goes to someone who can tow; a complex fault to someone who can fix it.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353312"/>
            <a:ext cx="2697480" cy="1691640"/>
          </a:xfrm>
          <a:prstGeom prst="roundRect">
            <a:avLst>
              <a:gd name="adj" fmla="val 540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Shape 12"/>
          <p:cNvSpPr/>
          <p:nvPr/>
        </p:nvSpPr>
        <p:spPr>
          <a:xfrm>
            <a:off x="6263640" y="1490472"/>
            <a:ext cx="548640" cy="54864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55448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5E"/>
                </a:solidFill>
              </a:rPr>
              <a:t>Built for Uganda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90488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63D"/>
                </a:solidFill>
              </a:rPr>
              <a:t>MTN &amp; Airtel MoMo, SPN-verified local providers, and offline-friendly local map and fuel data.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463040" y="3154680"/>
            <a:ext cx="2697480" cy="1508760"/>
          </a:xfrm>
          <a:prstGeom prst="roundRect">
            <a:avLst>
              <a:gd name="adj" fmla="val 606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Shape 16"/>
          <p:cNvSpPr/>
          <p:nvPr/>
        </p:nvSpPr>
        <p:spPr>
          <a:xfrm>
            <a:off x="1645920" y="3291840"/>
            <a:ext cx="548640" cy="54864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072" y="335584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72768" y="3913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5E"/>
                </a:solidFill>
              </a:rPr>
              <a:t>Two-sided and fair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572768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63D"/>
                </a:solidFill>
              </a:rPr>
              <a:t>A transparent flat platform fee — not opaque commissions — gives providers steady, dignified work.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43400" y="3154680"/>
            <a:ext cx="2697480" cy="1508760"/>
          </a:xfrm>
          <a:prstGeom prst="roundRect">
            <a:avLst>
              <a:gd name="adj" fmla="val 606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6" name="Shape 20"/>
          <p:cNvSpPr/>
          <p:nvPr/>
        </p:nvSpPr>
        <p:spPr>
          <a:xfrm>
            <a:off x="4526280" y="3291840"/>
            <a:ext cx="548640" cy="548640"/>
          </a:xfrm>
          <a:prstGeom prst="ellipse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335584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53128" y="3913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5E"/>
                </a:solidFill>
              </a:rPr>
              <a:t>One app, not five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453128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63D"/>
                </a:solidFill>
              </a:rPr>
              <a:t>Diagnosis, dispatch, parts, insurance, fuel and reminders all in a single ecosystem.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0A500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it's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408176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7218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350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930"/>
                </a:solidFill>
              </a:rPr>
              <a:t>Three Apps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66420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5FF"/>
                </a:solidFill>
              </a:rPr>
              <a:t>Driver app  ·  Mechanic/Provider app  ·  Admin control room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945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2322576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38658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2494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930"/>
                </a:solidFill>
              </a:rPr>
              <a:t>9 Microservices + PostgreSQL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257860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5FF"/>
                </a:solidFill>
              </a:rPr>
              <a:t>Independent FastAPI services, each owning its own data — scalable and resilient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1089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0352" y="3236976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30098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1638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930"/>
                </a:solidFill>
              </a:rPr>
              <a:t>Real-time Core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43000" y="349300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5FF"/>
                </a:solidFill>
              </a:rPr>
              <a:t>WebSockets keep both sides of every job perfectly in sync, live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40233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23287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151376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21538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0782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930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43000" y="440740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4F5FF"/>
                </a:solidFill>
              </a:rPr>
              <a:t>Claude </a:t>
            </a:r>
            <a:r>
              <a:rPr lang="en-US" sz="1200" dirty="0" smtClean="0">
                <a:solidFill>
                  <a:srgbClr val="F4F5FF"/>
                </a:solidFill>
              </a:rPr>
              <a:t>(Haiku LLM) </a:t>
            </a:r>
            <a:r>
              <a:rPr lang="en-US" sz="1200" dirty="0" smtClean="0">
                <a:solidFill>
                  <a:srgbClr val="F4F5FF"/>
                </a:solidFill>
              </a:rPr>
              <a:t>for </a:t>
            </a:r>
            <a:r>
              <a:rPr lang="en-US" sz="1200" dirty="0">
                <a:solidFill>
                  <a:srgbClr val="F4F5FF"/>
                </a:solidFill>
              </a:rPr>
              <a:t>AI  ·  Google Maps for location  ·  MTN/Airtel for Mobile </a:t>
            </a:r>
            <a:r>
              <a:rPr lang="en-US" sz="1200" dirty="0">
                <a:solidFill>
                  <a:srgbClr val="F4F5FF"/>
                </a:solidFill>
              </a:rPr>
              <a:t>Money </a:t>
            </a:r>
            <a:r>
              <a:rPr lang="en-US" sz="1200" dirty="0" smtClean="0">
                <a:solidFill>
                  <a:srgbClr val="F4F5FF"/>
                </a:solidFill>
              </a:rPr>
              <a:t>· Firebase for Notifications 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163D"/>
          </a:solidFill>
          <a:ln w="12700">
            <a:solidFill>
              <a:srgbClr val="1216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BA3C7"/>
                </a:solidFill>
              </a:rPr>
              <a:t>MOTOFIX  ·  On-demand roadside assistance for Uganda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50392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A50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2163D"/>
                </a:solidFill>
              </a:rPr>
              <a:t>IMPACT &amp;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163D"/>
                </a:solidFill>
              </a:rPr>
              <a:t>Why it matters — now, let's show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645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0"/>
                </a:solidFill>
              </a:rPr>
              <a:t>Safer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9768" y="28895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Confidence and transparency exactly when drivers are most vulnerable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463040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1528" y="1645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0"/>
                </a:solidFill>
              </a:rPr>
              <a:t>Fairer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78608" y="28895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A steady, fair stream of work for verified local mechanics and tow operators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17720" y="1463040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30368" y="1645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783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772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0"/>
                </a:solidFill>
              </a:rPr>
              <a:t>Local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727448" y="28895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A working system — three live apps over a real backend — not a mock-up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66560" y="1463040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232875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79208" y="1645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783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30"/>
                </a:solidFill>
              </a:rPr>
              <a:t>Informed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876288" y="28895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5FF"/>
                </a:solidFill>
              </a:rPr>
              <a:t>AI diagnosis before anyone arrives — drivers know what's wrong and what it should cost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07978" y="4251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63D"/>
                </a:solidFill>
              </a:rPr>
              <a:t>Live demonstration — we'll now show MOTOFIX in action.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978</Words>
  <Application>Microsoft Office PowerPoint</Application>
  <PresentationFormat>On-screen Show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MOTOFIX — On-demand Roadside Assistance for Uganda</dc:title>
  <dc:subject>PptxGenJS Presentation</dc:subject>
  <dc:creator>Group BSE26-9, Makerere University</dc:creator>
  <cp:lastModifiedBy>Microsoft account</cp:lastModifiedBy>
  <cp:revision>8</cp:revision>
  <dcterms:created xsi:type="dcterms:W3CDTF">2026-06-24T12:07:55Z</dcterms:created>
  <dcterms:modified xsi:type="dcterms:W3CDTF">2026-06-24T19:53:21Z</dcterms:modified>
</cp:coreProperties>
</file>